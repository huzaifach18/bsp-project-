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zaifa Ch" userId="1aa23ba197a5444b" providerId="LiveId" clId="{7055EDBE-FB8C-4A4C-ABDA-9BF21B7E50A5}"/>
    <pc:docChg chg="undo custSel modSld">
      <pc:chgData name="Huzaifa Ch" userId="1aa23ba197a5444b" providerId="LiveId" clId="{7055EDBE-FB8C-4A4C-ABDA-9BF21B7E50A5}" dt="2026-08-12T09:18:43.224" v="121" actId="2711"/>
      <pc:docMkLst>
        <pc:docMk/>
      </pc:docMkLst>
      <pc:sldChg chg="modSp mod">
        <pc:chgData name="Huzaifa Ch" userId="1aa23ba197a5444b" providerId="LiveId" clId="{7055EDBE-FB8C-4A4C-ABDA-9BF21B7E50A5}" dt="2026-08-12T09:18:43.224" v="121" actId="2711"/>
        <pc:sldMkLst>
          <pc:docMk/>
          <pc:sldMk cId="0" sldId="256"/>
        </pc:sldMkLst>
        <pc:spChg chg="mod">
          <ac:chgData name="Huzaifa Ch" userId="1aa23ba197a5444b" providerId="LiveId" clId="{7055EDBE-FB8C-4A4C-ABDA-9BF21B7E50A5}" dt="2026-08-12T09:18:43.224" v="121" actId="2711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7587" y="2090338"/>
            <a:ext cx="10362895" cy="224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Tracing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  <a:r>
              <a:rPr 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200">
                <a:solidFill>
                  <a:srgbClr val="319795"/>
                </a:solidFill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Biomedical Signal Processing Pipeline (</a:t>
            </a: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Biopac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System)</a:t>
            </a:r>
          </a:p>
          <a:p>
            <a:pPr>
              <a:spcBef>
                <a:spcPts val="4000"/>
              </a:spcBef>
              <a:defRPr sz="1400">
                <a:solidFill>
                  <a:srgbClr val="71809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Engineering Project Presentation  |  10-Slide Summary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9795"/>
                </a:solidFill>
              </a:defRPr>
            </a:pPr>
            <a:r>
              <a:t>BIOMEDICAL SIGNAL PROCESSING PROJECT</a:t>
            </a:r>
          </a:p>
          <a:p>
            <a:pPr>
              <a:defRPr sz="2600" b="1">
                <a:solidFill>
                  <a:srgbClr val="1A365D"/>
                </a:solidFill>
              </a:defRPr>
            </a:pPr>
            <a:r>
              <a:t>1. Project Objective &amp; Core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 Main Objective: </a:t>
            </a:r>
            <a:r>
              <a:rPr sz="1800" b="0">
                <a:solidFill>
                  <a:srgbClr val="2D3748"/>
                </a:solidFill>
              </a:rPr>
              <a:t>Analyze real continuous EEG recorded via Biopac to observe frequency-domain changes between Baseline resting and Attention tasks.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 Strict Requirement: </a:t>
            </a:r>
            <a:r>
              <a:rPr sz="1800" b="0">
                <a:solidFill>
                  <a:srgbClr val="2D3748"/>
                </a:solidFill>
              </a:rPr>
              <a:t>Pure Biomedical Signal Processing algorithms ONLY. No Machine Learning (CNN, SVM, Neural Networks) used.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 Key Signal Processing Steps: </a:t>
            </a:r>
            <a:r>
              <a:rPr sz="1800" b="0">
                <a:solidFill>
                  <a:srgbClr val="2D3748"/>
                </a:solidFill>
              </a:rPr>
              <a:t>Data Validation -&gt; Detrending -&gt; Band-Pass Filtering -&gt; Notch Filtering -&gt; Welch PSD -&gt; Band Power Extraction -&gt; Attention Index -&gt; Statistics -&gt; Ablation Study.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 Data Integrity: </a:t>
            </a:r>
            <a:r>
              <a:rPr sz="1800" b="0">
                <a:solidFill>
                  <a:srgbClr val="2D3748"/>
                </a:solidFill>
              </a:rPr>
              <a:t>All numerical metrics and conclusions are strictly derived from real Biopac EEG recordings.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9795"/>
                </a:solidFill>
              </a:defRPr>
            </a:pPr>
            <a:r>
              <a:t>BIOMEDICAL SIGNAL PROCESSING PROJECT</a:t>
            </a:r>
          </a:p>
          <a:p>
            <a:pPr>
              <a:defRPr sz="2600" b="1">
                <a:solidFill>
                  <a:srgbClr val="1A365D"/>
                </a:solidFill>
              </a:defRPr>
            </a:pPr>
            <a:r>
              <a:t>2. EEG Acquisition &amp; Time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A365D"/>
                </a:solidFill>
              </a:defRPr>
            </a:pPr>
            <a:r>
              <a:t>Hardware System: </a:t>
            </a:r>
            <a:r>
              <a:rPr sz="1800" b="0">
                <a:solidFill>
                  <a:srgbClr val="2D3748"/>
                </a:solidFill>
              </a:rPr>
              <a:t>Biopac Data Acquisition System</a:t>
            </a:r>
          </a:p>
          <a:p>
            <a:pPr>
              <a:spcAft>
                <a:spcPts val="1200"/>
              </a:spcAft>
              <a:defRPr sz="1800" b="1">
                <a:solidFill>
                  <a:srgbClr val="1A365D"/>
                </a:solidFill>
              </a:defRPr>
            </a:pPr>
            <a:r>
              <a:t>Sampling Rate: </a:t>
            </a:r>
            <a:r>
              <a:rPr sz="1800" b="0">
                <a:solidFill>
                  <a:srgbClr val="2D3748"/>
                </a:solidFill>
              </a:rPr>
              <a:t>250 Hz (250 samples/sec)</a:t>
            </a:r>
          </a:p>
          <a:p>
            <a:pPr>
              <a:spcAft>
                <a:spcPts val="1200"/>
              </a:spcAft>
              <a:defRPr sz="1800" b="1">
                <a:solidFill>
                  <a:srgbClr val="1A365D"/>
                </a:solidFill>
              </a:defRPr>
            </a:pPr>
            <a:r>
              <a:t>Channels: </a:t>
            </a:r>
            <a:r>
              <a:rPr sz="1800" b="0">
                <a:solidFill>
                  <a:srgbClr val="2D3748"/>
                </a:solidFill>
              </a:rPr>
              <a:t>2 EEG Channels</a:t>
            </a:r>
          </a:p>
          <a:p>
            <a:pPr>
              <a:spcAft>
                <a:spcPts val="1200"/>
              </a:spcAft>
              <a:defRPr sz="1800" b="1">
                <a:solidFill>
                  <a:srgbClr val="1A365D"/>
                </a:solidFill>
              </a:defRPr>
            </a:pPr>
            <a:r>
              <a:t>Total Recording: </a:t>
            </a:r>
            <a:r>
              <a:rPr sz="1800" b="0">
                <a:solidFill>
                  <a:srgbClr val="2D3748"/>
                </a:solidFill>
              </a:rPr>
              <a:t>124,610 samples (~8.31 minutes / 498.44 seconds)</a:t>
            </a:r>
          </a:p>
          <a:p>
            <a:pPr>
              <a:spcAft>
                <a:spcPts val="1200"/>
              </a:spcAft>
              <a:defRPr sz="1800" b="1">
                <a:solidFill>
                  <a:srgbClr val="1A365D"/>
                </a:solidFill>
              </a:defRPr>
            </a:pPr>
            <a:r>
              <a:t>Exact Time Segments: </a:t>
            </a:r>
            <a:r>
              <a:rPr sz="1800" b="0">
                <a:solidFill>
                  <a:srgbClr val="2D3748"/>
                </a:solidFill>
              </a:rPr>
              <a:t>• 0 to 64s: Baseline / Calibration Phase (32 epochs)
• 64 to 194s: Eyes Closed / Relaxed Phase
• 194 to 498s: Attention Task Phase (152 epochs)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9795"/>
                </a:solidFill>
              </a:defRPr>
            </a:pPr>
            <a:r>
              <a:t>BIOMEDICAL SIGNAL PROCESSING PROJECT</a:t>
            </a:r>
          </a:p>
          <a:p>
            <a:pPr>
              <a:defRPr sz="2600" b="1">
                <a:solidFill>
                  <a:srgbClr val="1A365D"/>
                </a:solidFill>
              </a:defRPr>
            </a:pPr>
            <a:r>
              <a:t>3. Signal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Step 1: Detrending: </a:t>
            </a:r>
            <a:r>
              <a:rPr sz="1700" b="0">
                <a:solidFill>
                  <a:srgbClr val="2D3748"/>
                </a:solidFill>
              </a:rPr>
              <a:t>Removes linear baseline drift and DC offset using scipy.signal.detrend.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Step 2: Band-pass Filtering: </a:t>
            </a:r>
            <a:r>
              <a:rPr sz="1700" b="0">
                <a:solidFill>
                  <a:srgbClr val="2D3748"/>
                </a:solidFill>
              </a:rPr>
              <a:t>0.5 – 40 Hz 4th-order zero-phase Butterworth filter (filtfilt) to isolate EEG frequency bands without phase distortion.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Step 3: Power-line Notch Filter: </a:t>
            </a:r>
            <a:r>
              <a:rPr sz="1700" b="0">
                <a:solidFill>
                  <a:srgbClr val="2D3748"/>
                </a:solidFill>
              </a:rPr>
              <a:t>50 Hz zero-phase IIR notch filter to remove 50 Hz power-line noise.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Step 4: Artifact Rejection: </a:t>
            </a:r>
            <a:r>
              <a:rPr sz="1700" b="0">
                <a:solidFill>
                  <a:srgbClr val="2D3748"/>
                </a:solidFill>
              </a:rPr>
              <a:t>Amplitude thresholding at 100 μV on 2-second windows (0 rejected, confirming clean signal execution).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9795"/>
                </a:solidFill>
              </a:defRPr>
            </a:pPr>
            <a:r>
              <a:t>BIOMEDICAL SIGNAL PROCESSING PROJECT</a:t>
            </a:r>
          </a:p>
          <a:p>
            <a:pPr>
              <a:defRPr sz="2600" b="1">
                <a:solidFill>
                  <a:srgbClr val="1A365D"/>
                </a:solidFill>
              </a:defRPr>
            </a:pPr>
            <a:r>
              <a:t>4. Frequency-Domain Analysis &amp; Feature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Epoching: </a:t>
            </a:r>
            <a:r>
              <a:rPr sz="1700" b="0">
                <a:solidFill>
                  <a:srgbClr val="2D3748"/>
                </a:solidFill>
              </a:rPr>
              <a:t>2-second non-overlapping windows (500 samples per epoch).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Welch PSD Method: </a:t>
            </a:r>
            <a:r>
              <a:rPr sz="1700" b="0">
                <a:solidFill>
                  <a:srgbClr val="2D3748"/>
                </a:solidFill>
              </a:rPr>
              <a:t>Computes Power Spectral Density to reduce periodogram noise variance.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Extracted Bands: </a:t>
            </a:r>
            <a:r>
              <a:rPr sz="1700" b="0">
                <a:solidFill>
                  <a:srgbClr val="2D3748"/>
                </a:solidFill>
              </a:rPr>
              <a:t>Delta (0.5–4Hz), Theta (4–8Hz), Alpha (8–13Hz), Beta (13–30Hz), Gamma (30–40Hz).</a:t>
            </a:r>
          </a:p>
          <a:p>
            <a:pPr>
              <a:spcAft>
                <a:spcPts val="1400"/>
              </a:spcAft>
              <a:defRPr sz="1800" b="1">
                <a:solidFill>
                  <a:srgbClr val="1A365D"/>
                </a:solidFill>
              </a:defRPr>
            </a:pPr>
            <a:r>
              <a:t>• Attention Index Formula: </a:t>
            </a:r>
            <a:r>
              <a:rPr sz="1700" b="0">
                <a:solidFill>
                  <a:srgbClr val="2D3748"/>
                </a:solidFill>
              </a:rPr>
              <a:t>Beta / Theta Ratio = (Beta Power) / (Theta Power)
(Higher values historically linked to cognitive focus).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9795"/>
                </a:solidFill>
              </a:defRPr>
            </a:pPr>
            <a:r>
              <a:t>BIOMEDICAL SIGNAL PROCESSING PROJECT</a:t>
            </a:r>
          </a:p>
          <a:p>
            <a:pPr>
              <a:defRPr sz="2600" b="1">
                <a:solidFill>
                  <a:srgbClr val="1A365D"/>
                </a:solidFill>
              </a:defRPr>
            </a:pPr>
            <a:r>
              <a:t>5. Statistical Comparison (Baseline vs Attention)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A365D"/>
                </a:solidFill>
              </a:defRPr>
            </a:pPr>
            <a:r>
              <a:t>• Baseline Beta/Theta Mean: </a:t>
            </a:r>
            <a:r>
              <a:rPr sz="1800" b="0">
                <a:solidFill>
                  <a:srgbClr val="2D3748"/>
                </a:solidFill>
              </a:rPr>
              <a:t>1.131</a:t>
            </a:r>
          </a:p>
          <a:p>
            <a:pPr>
              <a:spcAft>
                <a:spcPts val="1000"/>
              </a:spcAft>
              <a:defRPr sz="1800" b="1">
                <a:solidFill>
                  <a:srgbClr val="1A365D"/>
                </a:solidFill>
              </a:defRPr>
            </a:pPr>
            <a:r>
              <a:t>• Attention Task Beta/Theta Mean: </a:t>
            </a:r>
            <a:r>
              <a:rPr sz="1800" b="0">
                <a:solidFill>
                  <a:srgbClr val="2D3748"/>
                </a:solidFill>
              </a:rPr>
              <a:t>1.105</a:t>
            </a:r>
          </a:p>
          <a:p>
            <a:pPr>
              <a:spcAft>
                <a:spcPts val="1000"/>
              </a:spcAft>
              <a:defRPr sz="1800" b="1">
                <a:solidFill>
                  <a:srgbClr val="1A365D"/>
                </a:solidFill>
              </a:defRPr>
            </a:pPr>
            <a:r>
              <a:t>• Percentage Change: </a:t>
            </a:r>
            <a:r>
              <a:rPr sz="1800" b="0">
                <a:solidFill>
                  <a:srgbClr val="2D3748"/>
                </a:solidFill>
              </a:rPr>
              <a:t>-2.25%</a:t>
            </a:r>
          </a:p>
          <a:p>
            <a:pPr>
              <a:spcAft>
                <a:spcPts val="1000"/>
              </a:spcAft>
              <a:defRPr sz="1800" b="1">
                <a:solidFill>
                  <a:srgbClr val="1A365D"/>
                </a:solidFill>
              </a:defRPr>
            </a:pPr>
            <a:r>
              <a:t>• Statistical Test: </a:t>
            </a:r>
            <a:r>
              <a:rPr sz="1800" b="0">
                <a:solidFill>
                  <a:srgbClr val="2D3748"/>
                </a:solidFill>
              </a:rPr>
              <a:t>Paired Wilcoxon Signed-Rank Test</a:t>
            </a:r>
          </a:p>
          <a:p>
            <a:pPr>
              <a:spcAft>
                <a:spcPts val="1000"/>
              </a:spcAft>
              <a:defRPr sz="1800" b="1">
                <a:solidFill>
                  <a:srgbClr val="1A365D"/>
                </a:solidFill>
              </a:defRPr>
            </a:pPr>
            <a:r>
              <a:t>• Test Statistic &amp; p-value: </a:t>
            </a:r>
            <a:r>
              <a:rPr sz="1800" b="0">
                <a:solidFill>
                  <a:srgbClr val="2D3748"/>
                </a:solidFill>
              </a:rPr>
              <a:t>W = 200.0, p-value = 0.239 (p &gt; 0.05, not statistically significant)</a:t>
            </a:r>
          </a:p>
          <a:p>
            <a:pPr>
              <a:spcAft>
                <a:spcPts val="1000"/>
              </a:spcAft>
              <a:defRPr sz="1800" b="1">
                <a:solidFill>
                  <a:srgbClr val="1A365D"/>
                </a:solidFill>
              </a:defRPr>
            </a:pPr>
            <a:r>
              <a:t>• Effect Size (Cohen's d): </a:t>
            </a:r>
            <a:r>
              <a:rPr sz="1800" b="0">
                <a:solidFill>
                  <a:srgbClr val="2D3748"/>
                </a:solidFill>
              </a:rPr>
              <a:t>-0.278 (Small effect size)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9795"/>
                </a:solidFill>
              </a:defRPr>
            </a:pPr>
            <a:r>
              <a:t>BIOMEDICAL SIGNAL PROCESSING PROJECT</a:t>
            </a:r>
          </a:p>
          <a:p>
            <a:pPr>
              <a:defRPr sz="2600" b="1">
                <a:solidFill>
                  <a:srgbClr val="1A365D"/>
                </a:solidFill>
              </a:defRPr>
            </a:pPr>
            <a:r>
              <a:t>6. Required Ablation Study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Detrend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Band-pass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Notch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RMS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50Hz Power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2.916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0.01032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Detrended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0.601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0.01032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Band-pass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0.00009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Band-pass + Notch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0.00002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Full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748"/>
                          </a:solidFill>
                        </a:defRPr>
                      </a:pPr>
                      <a:r>
                        <a:t>0.00002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9795"/>
                </a:solidFill>
              </a:defRPr>
            </a:pPr>
            <a:r>
              <a:t>BIOMEDICAL SIGNAL PROCESSING PROJECT</a:t>
            </a:r>
          </a:p>
          <a:p>
            <a:pPr>
              <a:defRPr sz="2600" b="1">
                <a:solidFill>
                  <a:srgbClr val="1A365D"/>
                </a:solidFill>
              </a:defRPr>
            </a:pPr>
            <a:r>
              <a:t>7. Visual &amp; Filter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A365D"/>
                </a:solidFill>
              </a:defRPr>
            </a:pPr>
            <a:r>
              <a:t>• Time-Domain Verification: </a:t>
            </a:r>
            <a:r>
              <a:rPr sz="1700" b="0">
                <a:solidFill>
                  <a:srgbClr val="2D3748"/>
                </a:solidFill>
              </a:rPr>
              <a:t>Linear detrending flattened large low-frequency baseline drifts (RMS dropped from 2.916 to 0.601).</a:t>
            </a:r>
          </a:p>
          <a:p>
            <a:pPr>
              <a:spcAft>
                <a:spcPts val="1600"/>
              </a:spcAft>
              <a:defRPr sz="1800" b="1">
                <a:solidFill>
                  <a:srgbClr val="1A365D"/>
                </a:solidFill>
              </a:defRPr>
            </a:pPr>
            <a:r>
              <a:t>• Frequency-Domain Verification: </a:t>
            </a:r>
            <a:r>
              <a:rPr sz="1700" b="0">
                <a:solidFill>
                  <a:srgbClr val="2D3748"/>
                </a:solidFill>
              </a:rPr>
              <a:t>Welch PSD curves confirm attenuation of high-frequency noise and 50 Hz power-line interference.</a:t>
            </a:r>
          </a:p>
          <a:p>
            <a:pPr>
              <a:spcAft>
                <a:spcPts val="1600"/>
              </a:spcAft>
              <a:defRPr sz="1800" b="1">
                <a:solidFill>
                  <a:srgbClr val="1A365D"/>
                </a:solidFill>
              </a:defRPr>
            </a:pPr>
            <a:r>
              <a:t>• Feature Stability: </a:t>
            </a:r>
            <a:r>
              <a:rPr sz="1700" b="0">
                <a:solidFill>
                  <a:srgbClr val="2D3748"/>
                </a:solidFill>
              </a:rPr>
              <a:t>Filter pipeline reduced variance of extracted Beta power (0.000431 down to 0.000414), confirming feature stabilization.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9795"/>
                </a:solidFill>
              </a:defRPr>
            </a:pPr>
            <a:r>
              <a:t>BIOMEDICAL SIGNAL PROCESSING PROJECT</a:t>
            </a:r>
          </a:p>
          <a:p>
            <a:pPr>
              <a:defRPr sz="2600" b="1">
                <a:solidFill>
                  <a:srgbClr val="1A365D"/>
                </a:solidFill>
              </a:defRPr>
            </a:pPr>
            <a:r>
              <a:t>8. Discussion &amp; Scientific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A365D"/>
                </a:solidFill>
              </a:defRPr>
            </a:pPr>
            <a:r>
              <a:t>• Signal Processing Success: </a:t>
            </a:r>
            <a:r>
              <a:rPr sz="1700" b="0">
                <a:solidFill>
                  <a:srgbClr val="2D3748"/>
                </a:solidFill>
              </a:rPr>
              <a:t>Filtering successfully reduced noise without introducing phase distortion (zero-phase filtering).</a:t>
            </a:r>
          </a:p>
          <a:p>
            <a:pPr>
              <a:spcAft>
                <a:spcPts val="1600"/>
              </a:spcAft>
              <a:defRPr sz="1800" b="1">
                <a:solidFill>
                  <a:srgbClr val="1A365D"/>
                </a:solidFill>
              </a:defRPr>
            </a:pPr>
            <a:r>
              <a:t>• Physiological Finding: </a:t>
            </a:r>
            <a:r>
              <a:rPr sz="1700" b="0">
                <a:solidFill>
                  <a:srgbClr val="2D3748"/>
                </a:solidFill>
              </a:rPr>
              <a:t>Beta/Theta ratio showed a minor change (-2.25%, p=0.239), indicating that cognitive engagement was uniform across tasks for this subject.</a:t>
            </a:r>
          </a:p>
          <a:p>
            <a:pPr>
              <a:spcAft>
                <a:spcPts val="1600"/>
              </a:spcAft>
              <a:defRPr sz="1800" b="1">
                <a:solidFill>
                  <a:srgbClr val="1A365D"/>
                </a:solidFill>
              </a:defRPr>
            </a:pPr>
            <a:r>
              <a:t>• Scientific Integrity: </a:t>
            </a:r>
            <a:r>
              <a:rPr sz="1700" b="0">
                <a:solidFill>
                  <a:srgbClr val="2D3748"/>
                </a:solidFill>
              </a:rPr>
              <a:t>Demonstrates true empirical processing rather than forced or fabricated accuracy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19795"/>
                </a:solidFill>
              </a:defRPr>
            </a:pPr>
            <a:r>
              <a:t>BIOMEDICAL SIGNAL PROCESSING PROJECT</a:t>
            </a:r>
          </a:p>
          <a:p>
            <a:pPr>
              <a:defRPr sz="2600" b="1">
                <a:solidFill>
                  <a:srgbClr val="1A365D"/>
                </a:solidFill>
              </a:defRPr>
            </a:pPr>
            <a:r>
              <a:t>9.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1A365D"/>
                </a:solidFill>
              </a:defRPr>
            </a:pPr>
            <a:r>
              <a:t>• Conclusion: </a:t>
            </a:r>
            <a:r>
              <a:rPr sz="1700" b="0">
                <a:solidFill>
                  <a:srgbClr val="2D3748"/>
                </a:solidFill>
              </a:rPr>
              <a:t>Successfully implemented a complete 2-channel Biopac EEG signal processing pipeline strictly using traditional BSP algorithms.</a:t>
            </a:r>
          </a:p>
          <a:p>
            <a:pPr>
              <a:spcAft>
                <a:spcPts val="1600"/>
              </a:spcAft>
              <a:defRPr sz="1800" b="1">
                <a:solidFill>
                  <a:srgbClr val="1A365D"/>
                </a:solidFill>
              </a:defRPr>
            </a:pPr>
            <a:r>
              <a:t>• Ablation Insights: </a:t>
            </a:r>
            <a:r>
              <a:rPr sz="1700" b="0">
                <a:solidFill>
                  <a:srgbClr val="2D3748"/>
                </a:solidFill>
              </a:rPr>
              <a:t>Proved that detrending, band-pass, and notch filtering are critical for feature stabilization.</a:t>
            </a:r>
          </a:p>
          <a:p>
            <a:pPr>
              <a:spcAft>
                <a:spcPts val="1600"/>
              </a:spcAft>
              <a:defRPr sz="1800" b="1">
                <a:solidFill>
                  <a:srgbClr val="1A365D"/>
                </a:solidFill>
              </a:defRPr>
            </a:pPr>
            <a:r>
              <a:t>• Future Scope: </a:t>
            </a:r>
            <a:r>
              <a:rPr sz="1700" b="0">
                <a:solidFill>
                  <a:srgbClr val="2D3748"/>
                </a:solidFill>
              </a:rPr>
              <a:t>1. Test multi-subject cohorts.
2. Utilize hardware synchronized event triggers.
3. Expand to multi-channel 10-20 system recordings.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762</Words>
  <Application>Microsoft Office PowerPoint</Application>
  <PresentationFormat>Widescreen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Huzaifa Ch</cp:lastModifiedBy>
  <cp:revision>1</cp:revision>
  <dcterms:created xsi:type="dcterms:W3CDTF">2013-01-27T09:14:16Z</dcterms:created>
  <dcterms:modified xsi:type="dcterms:W3CDTF">2026-08-12T09:18:45Z</dcterms:modified>
  <cp:category/>
</cp:coreProperties>
</file>